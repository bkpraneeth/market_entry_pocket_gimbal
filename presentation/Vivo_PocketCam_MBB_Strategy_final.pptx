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F172A"/>
                </a:solidFill>
                <a:latin typeface="Arial"/>
              </a:rPr>
              <a:t>India Pocket Camera Market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2024A</c:v>
                  </c:pt>
                  <c:pt idx="1">
                    <c:v>2025A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60</c:v>
                </c:pt>
                <c:pt idx="2">
                  <c:v>69</c:v>
                </c:pt>
                <c:pt idx="3">
                  <c:v>79</c:v>
                </c:pt>
                <c:pt idx="4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F172A"/>
                </a:solidFill>
                <a:latin typeface="Arial"/>
              </a:rPr>
              <a:t>Revenue &amp; Gross Profit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</c:v>
                </c:pt>
                <c:pt idx="1">
                  <c:v>118</c:v>
                </c:pt>
                <c:pt idx="2">
                  <c:v>172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 (₹ Cr)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</c:v>
                </c:pt>
                <c:pt idx="1">
                  <c:v>41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 STRATEGY  ·  INDIA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Enters the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Gimbal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Market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consulting-grade strategy study on category creation,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positioning, and market entry sequencing.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BKPRANEETH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Portfolio Project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github.com/BKPRANEETH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2926080"/>
            <a:ext cx="960120" cy="822960"/>
          </a:xfrm>
          <a:prstGeom prst="rect">
            <a:avLst/>
          </a:prstGeom>
          <a:solidFill>
            <a:srgbClr val="0B3D52"/>
          </a:solidFill>
          <a:ln w="12700">
            <a:solidFill>
              <a:srgbClr val="0D5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971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₹67 Cr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0" y="33832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Revenue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967728" y="2926080"/>
            <a:ext cx="960120" cy="822960"/>
          </a:xfrm>
          <a:prstGeom prst="rect">
            <a:avLst/>
          </a:prstGeom>
          <a:solidFill>
            <a:srgbClr val="0B3D52"/>
          </a:solidFill>
          <a:ln w="12700">
            <a:solidFill>
              <a:srgbClr val="0D5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67728" y="2971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67728" y="33832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CAGR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991856" y="2926080"/>
            <a:ext cx="960120" cy="822960"/>
          </a:xfrm>
          <a:prstGeom prst="rect">
            <a:avLst/>
          </a:prstGeom>
          <a:solidFill>
            <a:srgbClr val="0B3D52"/>
          </a:solidFill>
          <a:ln w="12700">
            <a:solidFill>
              <a:srgbClr val="0D5E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91856" y="2971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91856" y="33832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 Share to Disrupt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785"/>
                </a:solidFill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EXEC SUMMARY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in One Page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questions. Four answers. One recommendation.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72768"/>
            <a:ext cx="19933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1993392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208" y="192024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pocket gimbal camera exists in India below ₹35,000. DJI starts at ₹45,999. The ₹15K–₹25K segment is entirely empty.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32888" y="1572768"/>
            <a:ext cx="19933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1572768"/>
            <a:ext cx="199339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42616" y="192024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creator economy will reach 85M creators by 2028. Pocket cam market growing at 12.4% CAGR to $91M — fastest in Asia.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4296" y="1572768"/>
            <a:ext cx="19933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1572768"/>
            <a:ext cx="1993392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64024" y="192024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should launch a ₹22,999 pocket gimbal camera targeting students, micro-influencers and first-time creators.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75704" y="1572768"/>
            <a:ext cx="19933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5704" y="1572768"/>
            <a:ext cx="1993392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85432" y="192024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$8M (₹67 Cr) Year 1 revenue at 10% SAM capture. Break-even at ~62,500 units. Year 3 EBITDA: ₹44 Cr.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434840"/>
            <a:ext cx="83210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→  Enter now. The window closes as Insta360 Luna penetrates lower price bands.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MARKET SIZING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SAM · SOM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sizing of the India pocket camera opportunity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256032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India creator gear market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camera/video gear sold to India's creator base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1600200"/>
            <a:ext cx="2194560" cy="2560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9272" y="2148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19272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gimbal + action cam (sub-₹50K)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9272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Vivo can realistically compete 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41264" y="1600200"/>
            <a:ext cx="1828800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78424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78424" y="2148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$8M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678424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Year 1 at 10% SAM capture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78424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~62,500 units at ₹22,999 ASP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993392" y="2651760"/>
            <a:ext cx="201168" cy="137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10512" y="2651760"/>
            <a:ext cx="201168" cy="137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600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06640" y="19019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India = ~4% of global creator gear market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406640" y="22860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Pocket gimbal ~25% of total India consumer cam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06640" y="2670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Vivo targets sub-₹25K niche: realistic 10% SAM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06640" y="30540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CAGR 12.4% (MarketsandMarkets, 2026)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4407408"/>
            <a:ext cx="832104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40740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India is the fastest-growing pocket camera market in Asia. The ₹15K–₹25K band is structurally unserved — no quality product exists in this range.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MARKET GROWTH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Pocket Camera Market 2024–2028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 CAGR — fastest growing market in Asia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411480" y="150876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150876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89320" y="1508760"/>
            <a:ext cx="502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1600200"/>
            <a:ext cx="2560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26480" y="1906524"/>
            <a:ext cx="2560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CAGR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89320" y="2258568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2258568"/>
            <a:ext cx="50292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350008"/>
            <a:ext cx="2560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85M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126480" y="2656332"/>
            <a:ext cx="2560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Creators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2028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89320" y="3008376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89320" y="3008376"/>
            <a:ext cx="50292" cy="6858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3099816"/>
            <a:ext cx="2560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126480" y="3406140"/>
            <a:ext cx="2560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cameras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₹35K today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89320" y="3758184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89320" y="3758184"/>
            <a:ext cx="5029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0" y="3849624"/>
            <a:ext cx="2560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126480" y="4155948"/>
            <a:ext cx="2560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DJI's India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148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MarketsandMarkets 2026 · IAMAI Creator Economy Report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82296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COMPETITION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Vivo is up against — and the gap none of them own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72768"/>
            <a:ext cx="83210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72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496312" y="15727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Price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67912" y="15727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Share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56632" y="15727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53912" y="15727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59752" y="1572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1865376"/>
            <a:ext cx="8321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029968"/>
            <a:ext cx="146304" cy="146304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18653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 Osmo Pocket 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24912" y="186537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₹45,999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96512" y="18653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85232" y="186537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82512" y="186537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88352" y="186537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359152"/>
            <a:ext cx="83210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523744"/>
            <a:ext cx="146304" cy="146304"/>
          </a:xfrm>
          <a:prstGeom prst="oval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23591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Insta360 Luna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24912" y="235915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₹39,999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96512" y="23591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85232" y="2359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82512" y="235915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88352" y="235915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2852928"/>
            <a:ext cx="8321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017520"/>
            <a:ext cx="146304" cy="146304"/>
          </a:xfrm>
          <a:prstGeom prst="oval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28529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GoPro HERO 13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24912" y="28529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₹32,999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96512" y="28529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85232" y="285292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82512" y="285292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88352" y="28529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346704"/>
            <a:ext cx="832104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3346704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334670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VIVO TARGET ZONE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02920" y="3511296"/>
            <a:ext cx="146304" cy="146304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33467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(Target Entry)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24912" y="334670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₹22,999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96512" y="334670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85232" y="334670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82512" y="334670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88352" y="334670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Budget+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" y="3840480"/>
            <a:ext cx="8321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4005072"/>
            <a:ext cx="146304" cy="146304"/>
          </a:xfrm>
          <a:prstGeom prst="oval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3840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AKASO / Budget Brands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24912" y="38404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₹7,499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096512" y="3840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85232" y="38404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82512" y="38404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88352" y="38404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407408"/>
            <a:ext cx="832104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40740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₹15K–₹35K segment is the most underserved in India. No quality competitor exists below GoPro's ₹32,999. Vivo has first-mover advantage in this gap.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2296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INDUSTRY ATTRACTIVENESS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attractiveness: MODERATE-HIGH · Key entry signal: price gap + medium barriers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2606040"/>
            <a:ext cx="26517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2606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ATTRACTIVENESS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MODERATE–HIGH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572768"/>
            <a:ext cx="2606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72768"/>
            <a:ext cx="260604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45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Rivalry Among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1700784"/>
            <a:ext cx="411480" cy="2743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7007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5848" y="2048256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 + Insta360 battle fiercely. Price wars likely at entry.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26480" y="2331720"/>
            <a:ext cx="2606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331720"/>
            <a:ext cx="2606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4048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83880" y="2459736"/>
            <a:ext cx="4114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24597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36208" y="280720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intensive; brand trust needed. Medium barrier.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26480" y="3383280"/>
            <a:ext cx="2606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3383280"/>
            <a:ext cx="2606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34564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Bargaining Power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83880" y="3511296"/>
            <a:ext cx="4114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35112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36208" y="38587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Indian creators compare aggressively.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46120" y="3749040"/>
            <a:ext cx="2606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3749040"/>
            <a:ext cx="26060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822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Bargaining Power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03520" y="3877056"/>
            <a:ext cx="4114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8770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55848" y="422452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CMOS sensor suppliers, but Vivo has existing relationships.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1480" y="3383280"/>
            <a:ext cx="2606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3383280"/>
            <a:ext cx="260604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34564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68880" y="3511296"/>
            <a:ext cx="411480" cy="2743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35112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" y="38587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with gimbals are the main substitute.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2296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PRICING STRATEGY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the White Space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Vivo's ₹22,999 price point is structurally defensible for 18–24 months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72768"/>
            <a:ext cx="50292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01368"/>
            <a:ext cx="3686861" cy="329184"/>
          </a:xfrm>
          <a:prstGeom prst="rect">
            <a:avLst/>
          </a:prstGeom>
          <a:solidFill>
            <a:srgbClr val="94A3B8">
              <a:alpha val="8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801368"/>
            <a:ext cx="35954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ZV-E10 II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35501" y="1801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₹72,000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2355443" cy="329184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240280"/>
            <a:ext cx="22640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 Osmo Pocket 4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04083" y="22402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₹45,999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679192"/>
            <a:ext cx="2048205" cy="329184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679192"/>
            <a:ext cx="19567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Insta360 Luna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96845" y="26791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₹39,999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118104"/>
            <a:ext cx="1689760" cy="329184"/>
          </a:xfrm>
          <a:prstGeom prst="rect">
            <a:avLst/>
          </a:prstGeom>
          <a:solidFill>
            <a:srgbClr val="EAB308">
              <a:alpha val="85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118104"/>
            <a:ext cx="159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GoPro HERO 13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38400" y="31181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₹32,999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557016"/>
            <a:ext cx="117769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557016"/>
            <a:ext cx="1086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Entry (Target)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26336" y="3557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₹22,999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995928"/>
            <a:ext cx="383997" cy="329184"/>
          </a:xfrm>
          <a:prstGeom prst="rect">
            <a:avLst/>
          </a:prstGeom>
          <a:solidFill>
            <a:srgbClr val="94A3B8">
              <a:alpha val="8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05" y="39959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AKASO / Budget  ₹7,499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483864"/>
            <a:ext cx="2286000" cy="36576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48640" y="34564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VIVO TARGET ZONE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69280" y="15727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ANALYSIS AT ₹22,999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69280" y="1901952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0" y="1901952"/>
            <a:ext cx="5029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1993392"/>
            <a:ext cx="288036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806440" y="2246681"/>
            <a:ext cx="288036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0" y="2569464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69280" y="2569464"/>
            <a:ext cx="50292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660904"/>
            <a:ext cx="288036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blend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806440" y="2914193"/>
            <a:ext cx="288036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Upsell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3236976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669280" y="3236976"/>
            <a:ext cx="5029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06440" y="3328416"/>
            <a:ext cx="288036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62,500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806440" y="3581705"/>
            <a:ext cx="288036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Units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69280" y="3904488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669280" y="3904488"/>
            <a:ext cx="5029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3995928"/>
            <a:ext cx="288036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₹22,999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806440" y="4249217"/>
            <a:ext cx="288036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to Breakeven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4407408"/>
            <a:ext cx="832104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0740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At ₹22,999, Vivo sits ₹10K below GoPro and ₹23K below DJI. No competitor has historically dropped more than 20% without triggering margin destruction — the gap is safe for 18–24 months.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2296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SWOT ANALYSIS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Vivo's Position for Market Entry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SWOT score: 6.6 / 10 — entry viable with mitigants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7276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41148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572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29000" y="15727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7.5/10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smartphone brand in India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30K+ retail stores + strong e-commerce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" y="2505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supply chain &amp; manufacturing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" y="2798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trust in service/warranty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57276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572768"/>
            <a:ext cx="4114800" cy="3200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572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80960" y="15727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5.0/10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hardware or gimbal 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1st-gen vs DJI's 4th-gen experience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73168" y="2505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creator community presence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73168" y="2798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Software/AI features lag significantly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21868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218688"/>
            <a:ext cx="41148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29000" y="32186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8.0/10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₹35K-and-below segment is empty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" y="3858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85M Indian creators by 2028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" y="4151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scheme manufacturing incentives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208" y="4443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India creator partnerships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21868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218688"/>
            <a:ext cx="41148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80960" y="32186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5.5/10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73168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DJI/Insta360 may drop prices to block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3168" y="3858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cameras improving rapidly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73168" y="4151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sensor supply constraints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4443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perception: phone brand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GO-TO-MARKET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Vivo Wins India's Creator Market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GTM: Awareness → Retail Scale → Ecosystem Lock-in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2743200"/>
            <a:ext cx="274320" cy="137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572768"/>
            <a:ext cx="2788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572768"/>
            <a:ext cx="27889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62763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15727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868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F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21208" y="21214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Awareness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1208" y="250545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500 micro-influencers pre-launch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21208" y="291693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India creator partnership (10 anchor creators)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21208" y="332841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&amp; Amazon exclusive launch deal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21208" y="37398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15,000 units in 90 days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35040" y="2743200"/>
            <a:ext cx="274320" cy="137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37560" y="1572768"/>
            <a:ext cx="2788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37560" y="1572768"/>
            <a:ext cx="2788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627632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94760" y="15727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79476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F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447288" y="21214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Expansion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447288" y="250545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30K+ vivo retail stores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47288" y="291693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campus activations (50 campuses)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447288" y="332841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content contest — ₹10L prize pool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447288" y="37398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47,500 units cumulative (Year 1 total)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263640" y="1572768"/>
            <a:ext cx="2788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263640" y="1572768"/>
            <a:ext cx="27889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627632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720840" y="15727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72084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F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373368" y="21214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Lock-in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373368" y="250545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vivo Mic (companion accessory)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373368" y="291693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Creator App — AI editing features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373368" y="332841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subscription (₹199/mo)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6373368" y="37398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1.1L units Year 2 · ₹110 Cr revenue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411480" y="4480560"/>
            <a:ext cx="83210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0292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Target: 62,500 units  ·  Revenue: ₹67 Cr  ·  Brand positioning: 'India's Creator Camera'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82296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FINANCIALS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P&amp;L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Year 2 · ₹44 Cr EBITDA by Year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411480" y="1572768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572768"/>
          <a:ext cx="3017520" cy="260604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594360"/>
                <a:gridCol w="594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 Cr)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₹41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Costs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₹27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–₹4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₹44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4251960"/>
            <a:ext cx="83210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4279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₹22,999  ·  Gross margin 35%  ·  Y1 fixed costs ₹27 Cr  ·  Unit growth: +76% Y2, +45% Y3  ·  Source: Analyst estimate for portfolio case study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82296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ANALYTICAL BACKBONE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Competitor Database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infrastructure underpinning this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72768"/>
            <a:ext cx="393192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Schema design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competitors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brand_name      TEXT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india_price_inr INTEGER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market_share    DECIMAL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gross_margin    DECIMAL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customer_score  DECIMAL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portfolio_size  INTEGER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market_sizing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            INTEGER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tam_usd         DECIMAL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sam_usd         DECIMAL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som_usd         DECIMAL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cagr            DECIMAL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572768"/>
            <a:ext cx="416052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645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Key queries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9160" y="1938528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Price positioning gap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brand_name, india_price_inr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competitors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india_price_inr ASC;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High-margin brands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brand_name, gross_margin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competitors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gross_margin &gt; 0.35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gross_margin DESC;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Market gap analysis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year,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(tam_usd - sam_usd) AS gap_usd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market_sizing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year;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4773168"/>
            <a:ext cx="8321040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773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structured datasets = the differentiator that 95% of consulting applicants don't have on their CV.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should enter the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gimbal camera market.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011680" cy="2468880"/>
          </a:xfrm>
          <a:prstGeom prst="rect">
            <a:avLst/>
          </a:prstGeom>
          <a:solidFill>
            <a:srgbClr val="0B2A3B"/>
          </a:solidFill>
          <a:ln w="12700">
            <a:solidFill>
              <a:srgbClr val="0D3D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real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89864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camera below ₹35K in India. Vivo can own this for 18–24 months.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60904" y="1965960"/>
            <a:ext cx="2011680" cy="2468880"/>
          </a:xfrm>
          <a:prstGeom prst="rect">
            <a:avLst/>
          </a:prstGeom>
          <a:solidFill>
            <a:srgbClr val="0B2A3B"/>
          </a:solidFill>
          <a:ln w="12700">
            <a:solidFill>
              <a:srgbClr val="0D3D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98064" y="2057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98064" y="2487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equity transfers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98064" y="289864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is already a trusted electronics brand with 30K+ retail touchpoints.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18888" y="1965960"/>
            <a:ext cx="2011680" cy="2468880"/>
          </a:xfrm>
          <a:prstGeom prst="rect">
            <a:avLst/>
          </a:prstGeom>
          <a:solidFill>
            <a:srgbClr val="0B2A3B"/>
          </a:solidFill>
          <a:ln w="12700">
            <a:solidFill>
              <a:srgbClr val="0D3D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2057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56048" y="2487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works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6048" y="289864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Year 2 at 1.1L units. Year 3 EBITDA of ₹44 Cr on ₹172 Cr revenue.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76872" y="1965960"/>
            <a:ext cx="2011680" cy="2468880"/>
          </a:xfrm>
          <a:prstGeom prst="rect">
            <a:avLst/>
          </a:prstGeom>
          <a:solidFill>
            <a:srgbClr val="0B2A3B"/>
          </a:solidFill>
          <a:ln w="12700">
            <a:solidFill>
              <a:srgbClr val="0D3D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2057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14032" y="2487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Tailwind, not headwind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14032" y="289864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creator base growing 22% annually. The window to enter is open now.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BKPRANEETH  ·  Consulting Portfolio Project  ·  May 2026  ·  github.com/BKPRANEETH/Market_Entry_Pocket_Gimbal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785"/>
                </a:solidFill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Vivo PocketCam India Market Entry — Strategy Study</dc:title>
  <dc:subject>PptxGenJS Presentation</dc:subject>
  <dc:creator>BKPRANEETH</dc:creator>
  <cp:lastModifiedBy>BKPRANEETH</cp:lastModifiedBy>
  <cp:revision>1</cp:revision>
  <dcterms:created xsi:type="dcterms:W3CDTF">2026-06-01T19:07:30Z</dcterms:created>
  <dcterms:modified xsi:type="dcterms:W3CDTF">2026-06-01T19:07:30Z</dcterms:modified>
</cp:coreProperties>
</file>