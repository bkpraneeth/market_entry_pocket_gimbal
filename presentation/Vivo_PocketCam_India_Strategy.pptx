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($M)</c:v>
                </c:pt>
              </c:strCache>
            </c:strRef>
          </c:tx>
          <c:spPr>
            <a:solidFill>
              <a:srgbClr val="1B4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4F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4F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2024A</c:v>
                  </c:pt>
                  <c:pt idx="1">
                    <c:v>2025A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</c:v>
                </c:pt>
                <c:pt idx="1">
                  <c:v>60</c:v>
                </c:pt>
                <c:pt idx="2">
                  <c:v>69</c:v>
                </c:pt>
                <c:pt idx="3">
                  <c:v>79</c:v>
                </c:pt>
                <c:pt idx="4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F8A"/>
              </a:solidFill>
              <a:effectLst/>
            </c:spPr>
          </c:dPt>
          <c:dPt>
            <c:idx val="1"/>
            <c:bubble3D val="0"/>
            <c:spPr>
              <a:solidFill>
                <a:srgbClr val="0E7C7B"/>
              </a:solidFill>
              <a:effectLst/>
            </c:spPr>
          </c:dPt>
          <c:dPt>
            <c:idx val="2"/>
            <c:bubble3D val="0"/>
            <c:spPr>
              <a:solidFill>
                <a:srgbClr val="E74C3C"/>
              </a:solidFill>
              <a:effectLst/>
            </c:spPr>
          </c:dPt>
          <c:dPt>
            <c:idx val="3"/>
            <c:bubble3D val="0"/>
            <c:spPr>
              <a:solidFill>
                <a:srgbClr val="8E44AD"/>
              </a:solidFill>
              <a:effectLst/>
            </c:spPr>
          </c:dPt>
          <c:dPt>
            <c:idx val="4"/>
            <c:bubble3D val="0"/>
            <c:spPr>
              <a:solidFill>
                <a:srgbClr val="F4A623"/>
              </a:solidFill>
              <a:effectLst/>
            </c:spPr>
          </c:dPt>
          <c:dPt>
            <c:idx val="5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DJI</c:v>
                </c:pt>
                <c:pt idx="1">
                  <c:v>Insta360</c:v>
                </c:pt>
                <c:pt idx="2">
                  <c:v>GoPro</c:v>
                </c:pt>
                <c:pt idx="3">
                  <c:v>Sony</c:v>
                </c:pt>
                <c:pt idx="4">
                  <c:v>Budget Brands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55</c:v>
                </c:pt>
                <c:pt idx="1">
                  <c:v>22</c:v>
                </c:pt>
                <c:pt idx="2">
                  <c:v>12</c:v>
                </c:pt>
                <c:pt idx="3">
                  <c:v>6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ENTRY STRATEGY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Vivo Enters the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Pocket Gimbal Camera Market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— 2026 Strategic Study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411480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BKPRANEETH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Portfolio Project  •  Gap Year Initiative  •  May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32320" y="914400"/>
            <a:ext cx="1645920" cy="1645920"/>
          </a:xfrm>
          <a:prstGeom prst="ellipse">
            <a:avLst/>
          </a:prstGeom>
          <a:solidFill>
            <a:srgbClr val="0E7C7B">
              <a:alpha val="20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1188720"/>
            <a:ext cx="1097280" cy="1097280"/>
          </a:xfrm>
          <a:prstGeom prst="ellipse">
            <a:avLst/>
          </a:prstGeom>
          <a:solidFill>
            <a:srgbClr val="415FFF">
              <a:alpha val="40000"/>
            </a:srgbClr>
          </a:solidFill>
          <a:ln w="12700">
            <a:solidFill>
              <a:srgbClr val="415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 in One Page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109728" cy="15544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356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75564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quality pocket gimbal camera exists in India below ₹35,000. DJI starts at ₹45,999. The ₹15K–₹25K segment is empty.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325880"/>
            <a:ext cx="109728" cy="1554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4356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175564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creator economy will hit 85M creators by 2028. Pocket cam market growing at 12.4% CAGR to $91M by 2028.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63240"/>
            <a:ext cx="109728" cy="1554480"/>
          </a:xfrm>
          <a:prstGeom prst="rect">
            <a:avLst/>
          </a:prstGeom>
          <a:solidFill>
            <a:srgbClr val="415FFF"/>
          </a:solidFill>
          <a:ln w="12700">
            <a:solidFill>
              <a:srgbClr val="415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172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49300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 should launch a ₹22,999 pocket gimbal camera targeting students, micro-influencers and first-time creators.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063240"/>
            <a:ext cx="109728" cy="1554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3172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349300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$8M (₹67 Cr) revenue opportunity in Year 1 at just 10% SAM capture. Break-even at ~62,500 units.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Enter now. The window closes as Insta360 Luna penetrates lower price bands.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 · SAM · SOM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1005840"/>
          </a:xfrm>
          <a:prstGeom prst="rect">
            <a:avLst/>
          </a:prstGeom>
          <a:solidFill>
            <a:srgbClr val="1B4F8A">
              <a:alpha val="85000"/>
            </a:srgbClr>
          </a:solidFill>
          <a:ln w="19050">
            <a:solidFill>
              <a:srgbClr val="1B4F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34416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0" y="13441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$340M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0352" y="1709928"/>
            <a:ext cx="4626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India Creator Gear Market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99002" y="1709928"/>
            <a:ext cx="4626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camera/video gear sold in India to creators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05840" y="2331720"/>
            <a:ext cx="7132320" cy="1005840"/>
          </a:xfrm>
          <a:prstGeom prst="rect">
            <a:avLst/>
          </a:prstGeom>
          <a:solidFill>
            <a:srgbClr val="0E7C7B">
              <a:alpha val="85000"/>
            </a:srgbClr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44144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24414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$84M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70432" y="2807208"/>
            <a:ext cx="3922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Gimbal + Action Cam India (sub-₹50K)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01414" y="2807208"/>
            <a:ext cx="3922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segment Vivo can realistically compete 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11680" y="3429000"/>
            <a:ext cx="5120640" cy="1005840"/>
          </a:xfrm>
          <a:prstGeom prst="rect">
            <a:avLst/>
          </a:prstGeom>
          <a:solidFill>
            <a:srgbClr val="F4A623">
              <a:alpha val="85000"/>
            </a:srgbClr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76272" y="353872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353872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76272" y="3904488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Vivo's Obtainable Market — Year 1 (10% SAM)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62349" y="3904488"/>
            <a:ext cx="2816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~62,500 units at ₹22,999 average selling price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537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CAGR: 12.4%  •  India = Fastest growing pocket-cam market in Asia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GROWTH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Pocket Camera Market 2024–2028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97280"/>
            <a:ext cx="2834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89320" y="111556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12.4%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132320" y="1152144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CAGR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2011680"/>
            <a:ext cx="2834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89320" y="202996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85M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132320" y="2066544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Creators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2926080"/>
            <a:ext cx="2834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89320" y="294436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132320" y="2980944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cameras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₹35K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3840480"/>
            <a:ext cx="2834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89320" y="385876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132320" y="3895344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DJI India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MarketsandMarkets 2026, IAMAI Creator Economy Report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Vivo Is Up Against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3840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143000"/>
          <a:ext cx="4572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7315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DJI Osmo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₹45,999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expensive for India mass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Insta360 Luna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₹39,999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premium; no budget 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GoPro HERO 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₹32,999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gimbal; losing relevance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Sony ZV-E10 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Prosumer only; niche market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15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VIVO (Target)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15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₹22,999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15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→ 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15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to own this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₹15K–₹35K segment is the most underserved in India. Vivo has first-mover advantage here.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ATTRACTIVENESS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Porter's Five Forces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0" y="1143000"/>
            <a:ext cx="2743200" cy="1188720"/>
          </a:xfrm>
          <a:prstGeom prst="rect">
            <a:avLst/>
          </a:prstGeom>
          <a:solidFill>
            <a:srgbClr val="E74C3C">
              <a:alpha val="22000"/>
            </a:srgbClr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10128" y="121615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Rivalry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Competitors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40680" y="12344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4/5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10128" y="18013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DJI + Insta360 battle fiercely. Price wars likely.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2377440"/>
            <a:ext cx="2743200" cy="1188720"/>
          </a:xfrm>
          <a:prstGeom prst="rect">
            <a:avLst/>
          </a:prstGeom>
          <a:solidFill>
            <a:srgbClr val="F4A623">
              <a:alpha val="22000"/>
            </a:srgbClr>
          </a:solidFill>
          <a:ln w="19050">
            <a:solidFill>
              <a:srgbClr val="F4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24505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of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Entrants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14600" y="24688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303580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intensive; brand trust needed. Medium barrier.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26480" y="2377440"/>
            <a:ext cx="2743200" cy="1188720"/>
          </a:xfrm>
          <a:prstGeom prst="rect">
            <a:avLst/>
          </a:prstGeom>
          <a:solidFill>
            <a:srgbClr val="F4A623">
              <a:alpha val="22000"/>
            </a:srgbClr>
          </a:solidFill>
          <a:ln w="19050">
            <a:solidFill>
              <a:srgbClr val="F4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6208" y="24505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Bargaining Power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66760" y="24688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36208" y="303580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 Indian creators compare aggressively.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2960" y="3657600"/>
            <a:ext cx="2743200" cy="1188720"/>
          </a:xfrm>
          <a:prstGeom prst="rect">
            <a:avLst/>
          </a:prstGeom>
          <a:solidFill>
            <a:srgbClr val="1A7A4A">
              <a:alpha val="22000"/>
            </a:srgbClr>
          </a:solidFill>
          <a:ln w="1905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" y="373075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Bargaining Power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63240" y="3749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2/5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2688" y="43159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sensor suppliers few but Vivo has existing relationships.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77840" y="3657600"/>
            <a:ext cx="2743200" cy="1188720"/>
          </a:xfrm>
          <a:prstGeom prst="rect">
            <a:avLst/>
          </a:prstGeom>
          <a:solidFill>
            <a:srgbClr val="E74C3C">
              <a:alpha val="22000"/>
            </a:srgbClr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87568" y="373075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of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18120" y="3749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4/5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87568" y="43159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with gimbals are the main substitute.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Attractiveness: MODERATE-HIGH  |  Key risk: rivalry and substitutes. Key opportunity: price gap.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Owning the White Space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0" y="1188720"/>
            <a:ext cx="5349240" cy="384048"/>
          </a:xfrm>
          <a:prstGeom prst="rect">
            <a:avLst/>
          </a:prstGeom>
          <a:solidFill>
            <a:srgbClr val="8E44AD">
              <a:alpha val="55000"/>
            </a:srgbClr>
          </a:solidFill>
          <a:ln w="6350">
            <a:solidFill>
              <a:srgbClr val="8E44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ZV-E10 II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982712" y="1188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₹72,000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810512"/>
            <a:ext cx="3417496" cy="384048"/>
          </a:xfrm>
          <a:prstGeom prst="rect">
            <a:avLst/>
          </a:prstGeom>
          <a:solidFill>
            <a:srgbClr val="1B4F8A">
              <a:alpha val="55000"/>
            </a:srgbClr>
          </a:solidFill>
          <a:ln w="6350">
            <a:solidFill>
              <a:srgbClr val="1B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1051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DJI Osmo Pocket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50968" y="18105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₹45,999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2432304"/>
            <a:ext cx="2971726" cy="384048"/>
          </a:xfrm>
          <a:prstGeom prst="rect">
            <a:avLst/>
          </a:prstGeom>
          <a:solidFill>
            <a:srgbClr val="0E7C7B">
              <a:alpha val="55000"/>
            </a:srgbClr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3230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Insta360 Luna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05198" y="24323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₹39,999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3054096"/>
            <a:ext cx="2451661" cy="384048"/>
          </a:xfrm>
          <a:prstGeom prst="rect">
            <a:avLst/>
          </a:prstGeom>
          <a:solidFill>
            <a:srgbClr val="E74C3C">
              <a:alpha val="55000"/>
            </a:srgbClr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05409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GoPro HERO 13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85133" y="30540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₹32,999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0" y="3675888"/>
            <a:ext cx="1708711" cy="384048"/>
          </a:xfrm>
          <a:prstGeom prst="rect">
            <a:avLst/>
          </a:prstGeom>
          <a:solidFill>
            <a:srgbClr val="415FFF"/>
          </a:solidFill>
          <a:ln w="25400">
            <a:solidFill>
              <a:srgbClr val="415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6758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1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 Entry (Target)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42183" y="36758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1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₹22,999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0" y="4297680"/>
            <a:ext cx="557138" cy="384048"/>
          </a:xfrm>
          <a:prstGeom prst="rect">
            <a:avLst/>
          </a:prstGeom>
          <a:solidFill>
            <a:srgbClr val="64748B">
              <a:alpha val="55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976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/ AKASO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90610" y="42976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₹7,499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3822192"/>
            <a:ext cx="1920240" cy="502920"/>
          </a:xfrm>
          <a:prstGeom prst="rect">
            <a:avLst/>
          </a:prstGeom>
          <a:solidFill>
            <a:srgbClr val="F4A623">
              <a:alpha val="20000"/>
            </a:srgbClr>
          </a:solidFill>
          <a:ln w="19050">
            <a:solidFill>
              <a:srgbClr val="F4A623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2578608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VIVO TARGET ZONE: ₹15K–₹25K gap nobody owns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at ₹22,999: ~35%  |  Break-even: ~62,500 units  |  Accessories upsell potential: +15% margin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Vivo's Position for Market Entry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828800"/>
          </a:xfrm>
          <a:prstGeom prst="rect">
            <a:avLst/>
          </a:prstGeom>
          <a:solidFill>
            <a:srgbClr val="E9F7EF"/>
          </a:solidFill>
          <a:ln w="15240">
            <a:solidFill>
              <a:srgbClr val="1A7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smartphone brand in India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30K+ retail stores + strong e-commerce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supply chain &amp; manufacturing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trust in service/warranty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206240" cy="1828800"/>
          </a:xfrm>
          <a:prstGeom prst="rect">
            <a:avLst/>
          </a:prstGeom>
          <a:solidFill>
            <a:srgbClr val="FDEDEC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5544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camera hardware experience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gimbal stabilisation IP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1st-gen vs DJI's 4th-gen quality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creator community presence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3063240"/>
            <a:ext cx="4206240" cy="1828800"/>
          </a:xfrm>
          <a:prstGeom prst="rect">
            <a:avLst/>
          </a:prstGeom>
          <a:solidFill>
            <a:srgbClr val="EBF5FB"/>
          </a:solidFill>
          <a:ln w="1524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154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5204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₹35K and below segment is empty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85M Indian creators by 2028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 scheme manufacturing incentives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YouTube India creators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3063240"/>
            <a:ext cx="4206240" cy="1828800"/>
          </a:xfrm>
          <a:prstGeom prst="rect">
            <a:avLst/>
          </a:prstGeom>
          <a:solidFill>
            <a:srgbClr val="FEF9E7"/>
          </a:solidFill>
          <a:ln w="1524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154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35204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DJI/Insta360 may drop prices to block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cameras improving rapidly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shortages (CMOS sensors)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Perception: phone brand = not serious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Vivo Wins India's Creator Market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3474720"/>
          </a:xfrm>
          <a:prstGeom prst="rect">
            <a:avLst/>
          </a:prstGeom>
          <a:solidFill>
            <a:srgbClr val="0E7C7B">
              <a:alpha val="20000"/>
            </a:srgbClr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274320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" y="17830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&amp; Awareness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228600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 with 500 micro-influencers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India creator partnership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&amp; Amazon exclusive launch deal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743200" cy="3474720"/>
          </a:xfrm>
          <a:prstGeom prst="rect">
            <a:avLst/>
          </a:prstGeom>
          <a:solidFill>
            <a:srgbClr val="1B4F8A">
              <a:alpha val="20000"/>
            </a:srgbClr>
          </a:solidFill>
          <a:ln w="19050">
            <a:solidFill>
              <a:srgbClr val="1B4F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188720"/>
            <a:ext cx="2743200" cy="5029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55848" y="17830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 Expansion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228600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30K+ vivo retail stores activation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campus activations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content contest — ₹10L prize pool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188720"/>
            <a:ext cx="2743200" cy="3474720"/>
          </a:xfrm>
          <a:prstGeom prst="rect">
            <a:avLst/>
          </a:prstGeom>
          <a:solidFill>
            <a:srgbClr val="415FFF">
              <a:alpha val="20000"/>
            </a:srgbClr>
          </a:solidFill>
          <a:ln w="19050">
            <a:solidFill>
              <a:srgbClr val="415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188720"/>
            <a:ext cx="2743200" cy="502920"/>
          </a:xfrm>
          <a:prstGeom prst="rect">
            <a:avLst/>
          </a:prstGeom>
          <a:solidFill>
            <a:srgbClr val="415FFF"/>
          </a:solidFill>
          <a:ln w="12700">
            <a:solidFill>
              <a:srgbClr val="415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81928" y="17830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Ecosystem Lock-in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81928" y="228600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vivo Mic (companion accessory)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 Creator App (AI editing features)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Subscription: cloud storage &amp; filters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62,500 units Year 1  |  Revenue: ₹67 Cr  |  Brand positioning: 'India's Creator Camera'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3-Year P&amp;L Model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(FY27)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 (FY28)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 (FY29)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Sold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(₹ Cr)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 (₹ Cr)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 (₹ Cr)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Spend (₹ Cr)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 + Ops (₹ Cr)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(₹ Cr)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(3.6)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15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Year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₹22,999 ASP | 35% gross margin | ₹27Cr Y1 fixed costs | 76% unit growth Y2 | Source: Analyst estimate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BACKBONE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Competitor Database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3566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 competitors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brand_name      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india_price_inr INTEGER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market_share    DECIMAL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gross_margin    DECIMAL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customer_score  DECIMAL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portfolio_size  INTEGER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 market_sizing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    INTEGER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tam_usd DECIMAL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sam_usd DECIMAL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som_usd DECIMAL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cagr    DECIMAL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434840" y="1143000"/>
            <a:ext cx="448056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21615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Who is cheapest in India?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0" y="1463040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brand_name, india_price_inr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competitors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india_price_inr ASC;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448056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4505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Which brands earn most?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brand_name, gross_margin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competitors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gross_margin &gt; 0.35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gross_margin DESC;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34840" y="3611880"/>
            <a:ext cx="448056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36850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Market gap analysis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3931920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year, (tam_usd - sam_usd)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gap_usd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market_sizing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year;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structured datasets = the differentiator that 95% of consulting applicants don't have on their CV.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Vivo should enter the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pocket gimbal camera market.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1214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real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4688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quality camera below ₹35K in India. Vivo can own this for 18–24 months.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03520" y="21214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equity transfers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0" y="24688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 is already a trusted electronics brand with 30K+ retail touchpoints.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34015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works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7490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by Year 2 at modest 1.1L units. Year 3 EBITDA of ₹44 Cr.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03520" y="34015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economy tailwind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37490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creator base growing 22% annually. Timing is optimal.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BKPRANEETH  •  Consulting Portfolio Project  •  May 2026  •  github.com/BKPRANEETH/Market_Entry_Pocket_GImbal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Vivo Market Entry – Pocket Gimbal Camera India</dc:title>
  <dc:subject>PptxGenJS Presentation</dc:subject>
  <dc:creator>BKPRANEETH</dc:creator>
  <cp:lastModifiedBy>BKPRANEETH</cp:lastModifiedBy>
  <cp:revision>1</cp:revision>
  <dcterms:created xsi:type="dcterms:W3CDTF">2026-05-31T10:13:58Z</dcterms:created>
  <dcterms:modified xsi:type="dcterms:W3CDTF">2026-05-31T10:13:58Z</dcterms:modified>
</cp:coreProperties>
</file>